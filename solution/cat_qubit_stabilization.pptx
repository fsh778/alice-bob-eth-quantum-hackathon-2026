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311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AE"/>
                </a:solidFill>
              </a:rPr>
              <a:t>1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Quantum hardware forgets
where it was.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8A9BAE"/>
                </a:solidFill>
              </a:rPr>
              <a:t>Cat qubits encode logical information in two blobs of light.
Slow environmental drift silently moves those blobs —
and the qubit degrades without warning.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097280"/>
            <a:ext cx="4023360" cy="475488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The stakes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69164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>
                <a:solidFill>
                  <a:srgbClr val="FF6B35"/>
                </a:solidFill>
              </a:rPr>
              <a:t>●  </a:t>
            </a:r>
            <a:r>
              <a:rPr sz="1500">
                <a:solidFill>
                  <a:srgbClr val="FFFFFF"/>
                </a:solidFill>
              </a:rPr>
              <a:t>Bit-flip time T_Z: 78 µs at optimum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6B35"/>
                </a:solidFill>
              </a:rPr>
              <a:t>●  </a:t>
            </a:r>
            <a:r>
              <a:rPr sz="1500">
                <a:solidFill>
                  <a:srgbClr val="FFFFFF"/>
                </a:solidFill>
              </a:rPr>
              <a:t>Phase-flip time T_X: 0.28 µs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6B35"/>
                </a:solidFill>
              </a:rPr>
              <a:t>●  </a:t>
            </a:r>
            <a:r>
              <a:rPr sz="1500">
                <a:solidFill>
                  <a:srgbClr val="FFFFFF"/>
                </a:solidFill>
              </a:rPr>
              <a:t>Bias T_Z / T_X must stay near 320×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6B35"/>
                </a:solidFill>
              </a:rPr>
              <a:t>●  </a:t>
            </a:r>
            <a:r>
              <a:rPr sz="1500">
                <a:solidFill>
                  <a:srgbClr val="FFFFFF"/>
                </a:solidFill>
              </a:rPr>
              <a:t>Drift of ±13% in g₂ collapses T_Z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6B35"/>
                </a:solidFill>
              </a:rPr>
              <a:t>●  </a:t>
            </a:r>
            <a:r>
              <a:rPr sz="1500">
                <a:solidFill>
                  <a:srgbClr val="FFFFFF"/>
                </a:solidFill>
              </a:rPr>
              <a:t>No model of the drift is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C8FF"/>
                </a:solidFill>
              </a:rPr>
              <a:t>Challenge:  design a real-time controller that keeps the qubit on target
with zero knowledge of how or why the hardware is drifting.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311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AE"/>
                </a:solidFill>
              </a:rPr>
              <a:t>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Five online controllers,
one drifting quantum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BAE"/>
                </a:solidFill>
              </a:rPr>
              <a:t>All five see identical drift. All start from the same optimized point. Winner: highest T_Z with bias intact.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017520"/>
            <a:ext cx="2103120" cy="23774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21031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154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FF"/>
                </a:solidFill>
              </a:rPr>
              <a:t>CMA-ES
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E"/>
                </a:solidFill>
              </a:rPr>
              <a:t>Population
exploration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3017520"/>
            <a:ext cx="2103120" cy="23774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3017520"/>
            <a:ext cx="210312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3154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A500"/>
                </a:solidFill>
              </a:rPr>
              <a:t>Adam
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4160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E"/>
                </a:solidFill>
              </a:rPr>
              <a:t>JAX autodiff
gradients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1184" y="3017520"/>
            <a:ext cx="2103120" cy="23774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01184" y="3017520"/>
            <a:ext cx="210312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1184" y="3154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</a:rPr>
              <a:t>CMA-ES
Predictive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4160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E"/>
                </a:solidFill>
              </a:rPr>
              <a:t>Momentum
extrapolation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68896" y="3017520"/>
            <a:ext cx="2103120" cy="23774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68896" y="3017520"/>
            <a:ext cx="2103120" cy="64008"/>
          </a:xfrm>
          <a:prstGeom prst="rect">
            <a:avLst/>
          </a:prstGeom>
          <a:solidFill>
            <a:srgbClr val="A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6" y="3154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F7AC5"/>
                </a:solidFill>
              </a:rPr>
              <a:t>Adam
Predictive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4160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E"/>
                </a:solidFill>
              </a:rPr>
              <a:t>Nesterov
lookahead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36608" y="3017520"/>
            <a:ext cx="2103120" cy="23774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36608" y="3017520"/>
            <a:ext cx="2103120" cy="640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8" y="3154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4D4D"/>
                </a:solidFill>
              </a:rPr>
              <a:t>PPO
(RL)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4160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E"/>
                </a:solidFill>
              </a:rPr>
              <a:t>Policy network
from scratch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AE"/>
                </a:solidFill>
              </a:rPr>
              <a:t>Drift model: sinusoidal (slow environmental) + Ornstein-Uhlenbeck (correlated electronic noise)
on g₂ and ε_d simultaneously — identical seed for all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311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AE"/>
                </a:solidFill>
              </a:rPr>
              <a:t>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Architecture: measurement → loss → optimizer →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PHYSICS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00C8F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Full 2-mode Lindblad master equation (75-dim)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C8F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T_Z: 5-pt linear fit on ⟨σ_z(t)⟩, 0–10 µs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C8F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T_X: 2-pt parity ratio at 0.3 µs and 1.0 µs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C8FF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Both JIT-compiled + vmap-batched in JAX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960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LOSS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FF6B35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loss = −log T_Z − log T_X + λ|η − T_Z/T_X|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6B35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λ = 0.5, η_target = 1000 (large-cat regime)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6B35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Log-scale: well-conditioned across decades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6B35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Same function for all 5 optimizers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960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DRIFT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ECC71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x_actual = x_nominal + drift(t)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ECC71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Optimizer sets x_nominal; drift is hidden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ECC71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Optimizer compensates by shifting x_nominal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ECC71"/>
                </a:solidFill>
              </a:rPr>
              <a:t>●  </a:t>
            </a:r>
            <a:r>
              <a:rPr sz="1400">
                <a:solidFill>
                  <a:srgbClr val="FFFFFF"/>
                </a:solidFill>
              </a:rPr>
              <a:t>Adam: ∂L/∂x_nominal = ∂L/∂x_actual directly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960120"/>
            <a:ext cx="18288" cy="3200400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960120"/>
            <a:ext cx="18288" cy="3200400"/>
          </a:xfrm>
          <a:prstGeom prst="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160520"/>
            <a:ext cx="11430000" cy="23317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PPO STATE (8-D)  —  no drift signal, only measurement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2103120" cy="155448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x̂ (4-D)
Normalized knobs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4663440"/>
            <a:ext cx="2103120" cy="155448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9192" y="47091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log T_Z
normalized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9744" y="4663440"/>
            <a:ext cx="2103120" cy="155448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47091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log T_X
normalized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6016" y="4663440"/>
            <a:ext cx="2103120" cy="155448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31736" y="47091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Δ log T_Z
improving?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62288" y="4663440"/>
            <a:ext cx="2103120" cy="155448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47091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Δ log T_X
improving?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263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4D4D"/>
                </a:solidFill>
              </a:rPr>
              <a:t>← trend signals let policy infer drift direction without observing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311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AE"/>
                </a:solidFill>
              </a:rPr>
              <a:t>4 / 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"/>
            <a:ext cx="164592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F1A"/>
                </a:solidFill>
              </a:rPr>
              <a:t>DEMO MOMENT  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Differentiating through a quantum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BAE"/>
                </a:solidFill>
              </a:rPr>
              <a:t>Adam doesn't guess — it computes exact gradients of the loss with respect to
g₂ and ε_d by differentiating through the full Lindblad simulation.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7315200" cy="256032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7040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# One line gives us gradients through dynamiqs mesolve
grad_fn = jax.jit(
    jax.value_and_grad(loss_with_drift, argnums=0)
)
# Drift enters as x_actual = x_nominal + drift(t)
# ∂L/∂x_nominal = ∂L/∂x_actual  — chain rule collapses
# → gradient directly tells optimizer how to compensate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697480"/>
            <a:ext cx="3657600" cy="25603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2461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FF6B3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No finite-difference approximation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6B3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No extra quantum simulations for gradient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6B3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JAX autodiff is exact and fast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F6B35"/>
                </a:solidFill>
              </a:rPr>
              <a:t>●  </a:t>
            </a:r>
            <a:r>
              <a:rPr sz="1300">
                <a:solidFill>
                  <a:srgbClr val="FFFFFF"/>
                </a:solidFill>
              </a:rPr>
              <a:t>Gradient encodes drift compensation direction analytically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AE"/>
                </a:solidFill>
              </a:rPr>
              <a:t>The same loss_fn used by CMA-ES (black-box) is differentiated by Adam —
showing both gradient-free and gradient-based methods on equal footing.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311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AE"/>
                </a:solidFill>
              </a:rPr>
              <a:t>5 / 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"/>
            <a:ext cx="1645920" cy="2926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F1A"/>
                </a:solidFill>
              </a:rPr>
              <a:t>DEMO MOMENT  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PPO policy trained entirely from scratch — no RL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A9BAE"/>
                </a:solidFill>
              </a:rPr>
              <a:t>A 2-hidden-layer MLP actor-critic, He-initialized, trained with GAE advantages
and clipped surrogate objective — all implemented in ~150 lines of pure JAX.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3566160" cy="26060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356616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</a:rPr>
              <a:t>Fix 1 — Action noise tightened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log_std bounded to (−3, −2)
Max std: 0.61 → 0.14
Prevents actions outside ±scale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697480"/>
            <a:ext cx="3566160" cy="26060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2697480"/>
            <a:ext cx="35661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Fix 2 — Bias penalty capped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33375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clip(|T_Z/T_X − ν|, 0, 20)
Prevents ratio error drowning
log(T_Z) signal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697480"/>
            <a:ext cx="3566160" cy="26060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697480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Fix 3 — Trend state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33375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Δlog T_Z and Δlog T_X added
Policy infers drift direction
without observing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AE"/>
                </a:solidFill>
              </a:rPr>
              <a:t>Each fix is documented in the source with the exact failure mode it corrects —
the kind of debugging that only shows up when you build RL from the ground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311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AE"/>
                </a:solidFill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built honestly vs what real hardware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" cy="1143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</a:rPr>
              <a:t>Measurement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AE"/>
                </a:solidFill>
              </a:rPr>
              <a:t>All loss values are exact — zero shot noise. In hardware, T_X and T_X have √N variance from finite shots. The two-point T_X estimator is especially sensitive.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23160"/>
            <a:ext cx="54864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Alpha 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2549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AE"/>
                </a:solidFill>
              </a:rPr>
              <a:t>State preparation and σ_Z both require α. In simulation we compute it analytically. On hardware, α must be estimated independently — a separate calibration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0480"/>
            <a:ext cx="54864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Drift model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4281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AE"/>
                </a:solidFill>
              </a:rPr>
              <a:t>Sinusoidal + OU covers temperature and flux bias drift. TLS coupling, Kerr nonlinearity, and crosstalk were not modeled — real hardware has all of these simultaneously.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257800"/>
            <a:ext cx="54864" cy="1143000"/>
          </a:xfrm>
          <a:prstGeom prst="rect">
            <a:avLst/>
          </a:prstGeom>
          <a:solidFill>
            <a:srgbClr val="8A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BAE"/>
                </a:solidFill>
              </a:rPr>
              <a:t>PPO sample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66013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AE"/>
                </a:solidFill>
              </a:rPr>
              <a:t>PPO needs hundreds of drift steps to learn. In hardware each step costs seconds of measurement. Gradient-based Adam converges in 20–30 steps — more practical for fast re-calibration.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311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AE"/>
                </a:solidFill>
              </a:rPr>
              <a:t>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Online feedback preserves T_Z across the full drift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0972800" cy="47548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247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1247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1247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T_Z mean (µs)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1247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T_Z min (µs)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1247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Bias ν stable?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27048"/>
            <a:ext cx="10972800" cy="475488"/>
          </a:xfrm>
          <a:prstGeom prst="rect">
            <a:avLst/>
          </a:prstGeom>
          <a:solidFill>
            <a:srgbClr val="0D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184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Static (frozen)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6184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184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D4D"/>
                </a:solidFill>
              </a:rPr>
              <a:t>~35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184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D4D"/>
                </a:solidFill>
              </a:rPr>
              <a:t>~10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6184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02536"/>
            <a:ext cx="10972800" cy="47548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939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CMA-ES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0939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Black-box 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093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~58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93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~28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93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478024"/>
            <a:ext cx="10972800" cy="475488"/>
          </a:xfrm>
          <a:prstGeom prst="rect">
            <a:avLst/>
          </a:prstGeom>
          <a:solidFill>
            <a:srgbClr val="0D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5694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Adam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25694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Gradient 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5694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~62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694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~32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5694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953512"/>
            <a:ext cx="10972800" cy="47548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0449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CMA-ES predictive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0449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Lookahead + online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0449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~65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0449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~35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0449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429000"/>
            <a:ext cx="10972800" cy="475488"/>
          </a:xfrm>
          <a:prstGeom prst="rect">
            <a:avLst/>
          </a:prstGeom>
          <a:solidFill>
            <a:srgbClr val="0D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204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Adam predictive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35204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Nesterov + online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5204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~68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204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~38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5204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904488"/>
            <a:ext cx="10972800" cy="47548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9959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39959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RL policy online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3995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~55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995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~22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995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Partial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06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AE"/>
                </a:solidFill>
              </a:rPr>
              <a:t>Predictive Adam: highest mean T_Z — Nesterov lookahead pre-compensates correlated drift.
PPO lags in T_Z but demonstrates model-free RL policy learning purely from measurement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8311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AE"/>
                </a:solidFill>
              </a:rPr>
              <a:t>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Real-time stabilization of cat qubits
under unknown, continuous hardware drift.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1">
                <a:solidFill>
                  <a:srgbClr val="00C8FF"/>
                </a:solidFill>
              </a:rPr>
              <a:t>●  </a:t>
            </a:r>
            <a:r>
              <a:rPr sz="1800">
                <a:solidFill>
                  <a:srgbClr val="FFFFFF"/>
                </a:solidFill>
              </a:rPr>
              <a:t>5 online controllers benchmarked on identical drift trajectories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C8FF"/>
                </a:solidFill>
              </a:rPr>
              <a:t>●  </a:t>
            </a:r>
            <a:r>
              <a:rPr sz="1800">
                <a:solidFill>
                  <a:srgbClr val="FFFFFF"/>
                </a:solidFill>
              </a:rPr>
              <a:t>Adam + Nesterov lookahead: best T_Z recovery, fastest convergence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C8FF"/>
                </a:solidFill>
              </a:rPr>
              <a:t>●  </a:t>
            </a:r>
            <a:r>
              <a:rPr sz="1800">
                <a:solidFill>
                  <a:srgbClr val="FFFFFF"/>
                </a:solidFill>
              </a:rPr>
              <a:t>PPO: first RL policy for cat qubit stabilization, no external library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00C8FF"/>
                </a:solidFill>
              </a:rPr>
              <a:t>●  </a:t>
            </a:r>
            <a:r>
              <a:rPr sz="1800">
                <a:solidFill>
                  <a:srgbClr val="FFFFFF"/>
                </a:solidFill>
              </a:rPr>
              <a:t>Architecture generalizes to any drift model or parameter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A9BAE"/>
                </a:solidFill>
              </a:rPr>
              <a:t>github.com / alice-bob-eth-quantum-hackathon-2026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89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8FF"/>
                </a:solidFill>
              </a:rPr>
              <a:t>Alice &amp; Bob × ETH Zurich  |  Quantum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