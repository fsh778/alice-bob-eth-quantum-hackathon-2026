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Sinusoidal</c:v>
                </c:pt>
              </c:strCache>
            </c:strRef>
          </c:tx>
          <c:spPr>
            <a:solidFill>
              <a:srgbClr val="0EA5C9"/>
            </a:solidFill>
            <a:ln w="25400" cap="flat">
              <a:solidFill>
                <a:srgbClr val="0EA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C9"/>
              </a:solidFill>
              <a:ln w="9525" cap="flat">
                <a:solidFill>
                  <a:srgbClr val="0EA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0.2440419858454801</c:v>
                </c:pt>
                <c:pt idx="2">
                  <c:v>0.44588689528643655</c:v>
                </c:pt>
                <c:pt idx="3">
                  <c:v>0.570633909777092</c:v>
                </c:pt>
                <c:pt idx="4">
                  <c:v>0.596713137220964</c:v>
                </c:pt>
                <c:pt idx="5">
                  <c:v>0.5196152422706632</c:v>
                </c:pt>
                <c:pt idx="6">
                  <c:v>0.35267115137548394</c:v>
                </c:pt>
                <c:pt idx="7">
                  <c:v>0.12474701449065559</c:v>
                </c:pt>
                <c:pt idx="8">
                  <c:v>-0.12474701449065544</c:v>
                </c:pt>
                <c:pt idx="9">
                  <c:v>-0.3526711513754838</c:v>
                </c:pt>
                <c:pt idx="10">
                  <c:v>-0.519615242270663</c:v>
                </c:pt>
                <c:pt idx="11">
                  <c:v>-0.596713137220964</c:v>
                </c:pt>
                <c:pt idx="12">
                  <c:v>-0.5706339097770922</c:v>
                </c:pt>
                <c:pt idx="13">
                  <c:v>-0.4458868952864364</c:v>
                </c:pt>
                <c:pt idx="14">
                  <c:v>-0.2440419858454801</c:v>
                </c:pt>
                <c:pt idx="15">
                  <c:v>-6.798646677177576e-16</c:v>
                </c:pt>
                <c:pt idx="16">
                  <c:v>0.24404198584547981</c:v>
                </c:pt>
                <c:pt idx="17">
                  <c:v>0.44588689528643655</c:v>
                </c:pt>
                <c:pt idx="18">
                  <c:v>0.570633909777092</c:v>
                </c:pt>
                <c:pt idx="19">
                  <c:v>0.596713137220964</c:v>
                </c:pt>
                <c:pt idx="20">
                  <c:v>0.5196152422706635</c:v>
                </c:pt>
                <c:pt idx="21">
                  <c:v>0.352671151375484</c:v>
                </c:pt>
                <c:pt idx="22">
                  <c:v>0.1247470144906565</c:v>
                </c:pt>
                <c:pt idx="23">
                  <c:v>-0.12474701449065503</c:v>
                </c:pt>
                <c:pt idx="24">
                  <c:v>-0.35267115137548366</c:v>
                </c:pt>
                <c:pt idx="25">
                  <c:v>-0.5196152422706632</c:v>
                </c:pt>
                <c:pt idx="26">
                  <c:v>-0.596713137220964</c:v>
                </c:pt>
                <c:pt idx="27">
                  <c:v>-0.5706339097770923</c:v>
                </c:pt>
                <c:pt idx="28">
                  <c:v>-0.4458868952864365</c:v>
                </c:pt>
                <c:pt idx="29">
                  <c:v>-0.2440419858454797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Sinusoidal + OU</c:v>
                </c:pt>
              </c:strCache>
            </c:strRef>
          </c:tx>
          <c:spPr>
            <a:solidFill>
              <a:srgbClr val="9D7BFF"/>
            </a:solidFill>
            <a:ln w="25400" cap="flat">
              <a:solidFill>
                <a:srgbClr val="9D7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D7BFF"/>
              </a:solidFill>
              <a:ln w="9525" cap="flat">
                <a:solidFill>
                  <a:srgbClr val="9D7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0.05</c:v>
                </c:pt>
                <c:pt idx="1">
                  <c:v>0.3140419858454801</c:v>
                </c:pt>
                <c:pt idx="2">
                  <c:v>0.46588689528643656</c:v>
                </c:pt>
                <c:pt idx="3">
                  <c:v>0.530633909777092</c:v>
                </c:pt>
                <c:pt idx="4">
                  <c:v>0.606713137220964</c:v>
                </c:pt>
                <c:pt idx="5">
                  <c:v>0.5796152422706633</c:v>
                </c:pt>
                <c:pt idx="6">
                  <c:v>0.3326711513754839</c:v>
                </c:pt>
                <c:pt idx="7">
                  <c:v>0.07474701449065559</c:v>
                </c:pt>
                <c:pt idx="8">
                  <c:v>-0.13474701449065543</c:v>
                </c:pt>
                <c:pt idx="9">
                  <c:v>-0.32267115137548386</c:v>
                </c:pt>
                <c:pt idx="10">
                  <c:v>-0.449615242270663</c:v>
                </c:pt>
                <c:pt idx="11">
                  <c:v>-0.576713137220964</c:v>
                </c:pt>
                <c:pt idx="12">
                  <c:v>-0.6006339097770922</c:v>
                </c:pt>
                <c:pt idx="13">
                  <c:v>-0.5158868952864364</c:v>
                </c:pt>
                <c:pt idx="14">
                  <c:v>-0.2640419858454801</c:v>
                </c:pt>
                <c:pt idx="15">
                  <c:v>0.03999999999999932</c:v>
                </c:pt>
                <c:pt idx="16">
                  <c:v>0.3040419858454798</c:v>
                </c:pt>
                <c:pt idx="17">
                  <c:v>0.44588689528643655</c:v>
                </c:pt>
                <c:pt idx="18">
                  <c:v>0.520633909777092</c:v>
                </c:pt>
                <c:pt idx="19">
                  <c:v>0.576713137220964</c:v>
                </c:pt>
                <c:pt idx="20">
                  <c:v>0.5496152422706635</c:v>
                </c:pt>
                <c:pt idx="21">
                  <c:v>0.402671151375484</c:v>
                </c:pt>
                <c:pt idx="22">
                  <c:v>0.11474701449065651</c:v>
                </c:pt>
                <c:pt idx="23">
                  <c:v>-0.16474701449065504</c:v>
                </c:pt>
                <c:pt idx="24">
                  <c:v>-0.35267115137548366</c:v>
                </c:pt>
                <c:pt idx="25">
                  <c:v>-0.49961524227066323</c:v>
                </c:pt>
                <c:pt idx="26">
                  <c:v>-0.5567131372209639</c:v>
                </c:pt>
                <c:pt idx="27">
                  <c:v>-0.5906339097770923</c:v>
                </c:pt>
                <c:pt idx="28">
                  <c:v>-0.48588689528643647</c:v>
                </c:pt>
                <c:pt idx="29">
                  <c:v>-0.2340419858454797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T_Z (µs, log scale, illustrative)</c:v>
                </c:pt>
              </c:strCache>
            </c:strRef>
          </c:tx>
          <c:spPr>
            <a:solidFill>
              <a:srgbClr val="0EA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Static (frozen)</c:v>
                  </c:pt>
                  <c:pt idx="1">
                    <c:v>Naive CMA-ES</c:v>
                  </c:pt>
                  <c:pt idx="2">
                    <c:v>Adam (online)</c:v>
                  </c:pt>
                  <c:pt idx="3">
                    <c:v>Predictive Adam</c:v>
                  </c:pt>
                  <c:pt idx="4">
                    <c:v>PPO (online)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18</c:v>
                </c:pt>
                <c:pt idx="3">
                  <c:v>28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1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14400"/>
            <a:ext cx="3108960" cy="3108960"/>
          </a:xfrm>
          <a:prstGeom prst="ellipse">
            <a:avLst/>
          </a:prstGeom>
          <a:solidFill>
            <a:srgbClr val="21D4F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108960"/>
            <a:ext cx="2194560" cy="2194560"/>
          </a:xfrm>
          <a:prstGeom prst="ellipse">
            <a:avLst/>
          </a:prstGeom>
          <a:solidFill>
            <a:srgbClr val="0EA5C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3749040"/>
            <a:ext cx="1645920" cy="1645920"/>
          </a:xfrm>
          <a:prstGeom prst="ellipse">
            <a:avLst/>
          </a:prstGeom>
          <a:solidFill>
            <a:srgbClr val="9D7B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× ALICE &amp; BOB · QEC HACKATHON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Stabilizing Cat Qubits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21D4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Online, Under Drift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7B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T_X and T_Z while tracking hardware drift —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7B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fast-proxy lifetime extraction, three optimizers, and a phenomenological drift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349240"/>
            <a:ext cx="1280160" cy="0"/>
          </a:xfrm>
          <a:prstGeom prst="line">
            <a:avLst/>
          </a:prstGeom>
          <a:noFill/>
          <a:ln w="31750">
            <a:solidFill>
              <a:srgbClr val="21D4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B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— 8-minute 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Maximize T_X and T_Z while tracking drift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qubit promises a strong noise bias — but only when calibrated correctly.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1A47"/>
                </a:solidFill>
              </a:rPr>
              <a:t>Targets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Maximize bit-flip and phase-flip lifetimes T_Z, T_X simultaneously.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Hold the bias η = T_Z / T_X near a chosen target.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1A47"/>
                </a:solidFill>
              </a:rPr>
              <a:t>Knobs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Complex two-photon coupling g₂ and buffer drive ε_d → 4 real parameters.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Loss rates κ_a, κ_b are fixed at fabrication.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1A47"/>
                </a:solidFill>
              </a:rPr>
              <a:t>Why it's hard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Hardware drifts — flux bias, drive amplitudes, coupling — and a static calibration degrades.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We need an online controller that re-tunes faster than the drift.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931920" cy="45720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cat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3108960"/>
            <a:ext cx="1280160" cy="1280160"/>
          </a:xfrm>
          <a:prstGeom prst="ellipse">
            <a:avLst/>
          </a:prstGeom>
          <a:solidFill>
            <a:srgbClr val="0EA5C9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3108960"/>
            <a:ext cx="1280160" cy="1280160"/>
          </a:xfrm>
          <a:prstGeom prst="ellipse">
            <a:avLst/>
          </a:prstGeom>
          <a:solidFill>
            <a:srgbClr val="0EA5C9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|−α⟩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|+α⟩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0" y="374904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68096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Bit-flip:  T_Z   ←→   Phase-flip:  T_X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4983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η = T_Z / T_X  → exponential in |α|²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5532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 g₂ or ε_d shifts |α| → both lifetimes degrade.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  →  EXTRACTION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Fast, α-free lifetime extraction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expensive exponential fits with two cheap proxies — JAX-jittable, scipy-free.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4023360"/>
          </a:xfrm>
          <a:prstGeom prst="rect">
            <a:avLst/>
          </a:prstGeom>
          <a:solidFill>
            <a:srgbClr val="0EA5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T_Z proxy — 5-point linear fit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Heterodyne quadrature, normalized to first sample: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⟨X(t)⟩ / ⟨X(0)⟩ ≈ 1 − t / T_Z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closed-form OLS slope = −1 / T_Z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5 samples in [0, 10 µs] — stays linear for T_Z ≥ 100 µs.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Uses x_op = (a† + a)/2 instead of σ_z → no |α| estimate needed.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Pure JAX → batched, jit-compiled, GPU-friendly.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40233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194560"/>
            <a:ext cx="91440" cy="4023360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T_X proxy — two-point parity ratio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Photon-number parity P(t) = ⟨(−1)ⁿ⟩ decays exponentially: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T_X = (t₂ − t₁) / log[ P(t₁) / P(t₂) 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two measurements, one log — no curve fitting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160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Samples at t₁ = 0.30 µs and t₂ = 1.0 µs.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Robust to small SNR noise via clipping in [1e-9, 1].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Combined with T_Z proxy: 7 measurements per evaluation, end-to-end JIT.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REWARD FUNCTION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= lifetime + bias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0E1A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L(g₂, ε_d)  =  − log T_Z  −  log T_X  +  λ · | ν − T_Z / T_X |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target bias       λ = bias-penalty weight       lifetimes via fast proxies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520440" cy="26060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11880"/>
            <a:ext cx="3520440" cy="73152"/>
          </a:xfrm>
          <a:prstGeom prst="rect">
            <a:avLst/>
          </a:prstGeom>
          <a:solidFill>
            <a:srgbClr val="0EA5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Log-lifetimes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logs scales gracefully across decades (T_Z spans 1–1000 µs).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3611880"/>
            <a:ext cx="3520440" cy="26060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5112" y="3611880"/>
            <a:ext cx="3520440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 soft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term penalizes deviation from ν but does not saturate the reward.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3611880"/>
            <a:ext cx="3520440" cy="26060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3611880"/>
            <a:ext cx="352044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PPO-stable variant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|T_Z/T_X − ν| at 20 — stops the ratio from drowning lifetime gains.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OPTIMIZERS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optimizers, one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receives identical reward and identical drift trace — apples-to-apples.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40233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EA5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CMA-ES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Gradient-free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CMA-ES — population of 12 candidates per epoch, evolutionary mean / covariance updates.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optimization &amp; online tracking by recentering on the drifting optimum.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2194560"/>
            <a:ext cx="3520440" cy="40233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3712" y="2377440"/>
            <a:ext cx="502920" cy="502920"/>
          </a:xfrm>
          <a:prstGeom prst="ellipse">
            <a:avLst/>
          </a:prstGeom>
          <a:solidFill>
            <a:srgbClr val="9D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3792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93792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JAX autodiff through the master equation — exact gradient of the proxy reward.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5212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convergence on the static landscape; gradient locally encodes drift direction.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01584" y="2194560"/>
            <a:ext cx="3520440" cy="40233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330184" y="23774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33018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70264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70264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JAX implementation — MLP actor + critic, GAE advantages, clipped policy gradient.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30184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30184" y="5212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policy that observes (Δlog T_Z, Δlog T_X) trends to anticipate drift.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OPTIMIZERS  →  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Pros, cons, and when each shines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33832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regime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CMA-ES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Gradient-free; robust to non-smooth proxies; few hyperparameters.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Step-size σ collapses on convergence → cannot follow new drift.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calibration; slow drift only.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single-step convergence; cheap gradient via JAX autodiff.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local; no exploration; sensitive to learning rate near saddles.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drift around a known basin.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a feedback policy; carries memory across episodes; can anticipate trends.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hyperparameters; needs warm-start; longer wall-clock per update.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slow + stochastic drift, multi-episode regimes.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D7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variants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&amp; CMA-ES with momentum lookahead — extrapolate one step ahead of drift.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Overshoot near drift zero-crossings; needs tuned lookahead fraction.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drift with strong sinusoidal component.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DRIFT &amp; NOISE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two-component drift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746"/>
                </a:solidFill>
              </a:rPr>
              <a:t>We apply hidden additive drift to Re(g₂) and Re(ε_d) — the optimizer never observes it directly.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A5C9"/>
                </a:solidFill>
              </a:rPr>
              <a:t>Slow sinusoidal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Period 300 steps, amplitudes ±0.25 MHz (g₂) and ±0.60 MHz (ε_d), with a π/3 phase offset between them. Models environmental drifts: temperature, flux bias, hours-timescale instabilities.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D7BFF"/>
                </a:solidFill>
              </a:rPr>
              <a:t>Ornstein–Uhlenbeck noise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Correlated stochastic component (τ ≈ 20–30 steps), σ_g₂ = 0.02 MHz, σ_ε_d = 0.04 MHz. Models control electronics — fast jitter that doesn't average out.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6B6B"/>
                </a:solidFill>
              </a:rPr>
              <a:t>Two-phase schedule (naive run)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Epochs 0–99 — drift off, optimizer converges. Epochs 100–399 — sinusoidal drift on, ±2.0 MHz. Lets us isolate the σ-collapse failure mode.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45720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signal — sinusoidal + OU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224028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DRIFT &amp; NOISE  →  RESULT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CMA-ES collapses before drift starts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6B6B"/>
                </a:solidFill>
              </a:rPr>
              <a:t>After the drift-free phase, σ has collapsed to ~10⁻³.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E1A47"/>
                </a:solidFill>
              </a:rPr>
              <a:t>Once drift turns on at epoch 100…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The optimizer's step size is far smaller than the drift amplitude (±2.0 MHz).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Re(ε_d) stays stuck near 4.0 — oracle would swing to track the drift.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46"/>
                </a:solidFill>
              </a:rPr>
              <a:t>Bias η blows up; T_Z and T_X both degrade.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EA5C9"/>
                </a:solidFill>
              </a:rPr>
              <a:t>Take-away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746"/>
                </a:solidFill>
              </a:rPr>
              <a:t>Vanilla CMA-ES needs a step-size restart, σ-floor, or sliding window before it can track non-stationary optima.</a:t>
            </a:r>
            <a:endParaRPr lang="en-US" sz="1400" dirty="0"/>
          </a:p>
        </p:txBody>
      </p:sp>
      <p:pic>
        <p:nvPicPr>
          <p:cNvPr id="5" name="Image 0" descr="/sessions/jolly-cool-galileo/mnt/QEC_Hackathon/solution/naive_cmaes_drif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91640"/>
            <a:ext cx="576072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6263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drift-free convergence  ·  Phase 2: ε_d swings ±2.0 MHz, controller stuck.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DRIFT &amp; NOISE  →  RESULT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PPO keeps T_Z stable through drift</a:t>
            </a:r>
            <a:endParaRPr lang="en-US" sz="3200" dirty="0"/>
          </a:p>
        </p:txBody>
      </p:sp>
      <p:pic>
        <p:nvPicPr>
          <p:cNvPr id="4" name="Image 0" descr="/sessions/jolly-cool-galileo/mnt/QEC_Hackathon/cat_ppo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6424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(frozen) vs PPO (online) over 300 drift steps with sinusoidal + OU drift on g₂ and ε_d.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166360"/>
            <a:ext cx="3520440" cy="1371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212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5897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T_Z gain over the static frozen baseline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5166360"/>
            <a:ext cx="3520440" cy="1371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4325112" y="5212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ν ≈ 1000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07992" y="5897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target tracked despite hidden drift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01584" y="5166360"/>
            <a:ext cx="3520440" cy="1371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Text 10"/>
          <p:cNvSpPr/>
          <p:nvPr/>
        </p:nvSpPr>
        <p:spPr>
          <a:xfrm>
            <a:off x="8101584" y="5212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8-D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84464" y="5897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state — params + log-lifetimes + their deltas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DRIFT &amp; NOISE  →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who tracks what?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T_Z achieved across the same 300-step drift trajectory (higher is better).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103120"/>
            <a:ext cx="3657600" cy="4114800"/>
          </a:xfrm>
          <a:prstGeom prst="rect">
            <a:avLst/>
          </a:prstGeom>
          <a:solidFill>
            <a:srgbClr val="0E1A47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83880" y="27889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Frozen calibration loses an order of magnitude in T_Z under realistic drift.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Adam recovers most of it — but only when the drift stays inside one basin.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PPO wins under mixed drift because it learns a feedback policy, not just a point.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Predictive lookahead halves tracking error around drift zero-crossings.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values are representative; full numerics in the notebook.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STILL OPEN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 not get to —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4348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532120" cy="73152"/>
          </a:xfrm>
          <a:prstGeom prst="rect">
            <a:avLst/>
          </a:prstGeom>
          <a:solidFill>
            <a:srgbClr val="0EA5C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realism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Implement parity measurement and a true heterodyne readout instead of expectation values.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Coherent state preparation with realistic SNR and shot-noise budgets.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Closed-loop pulse calibration and feedback latency in the simulator.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532120" cy="44348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783080"/>
            <a:ext cx="5532120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/ scope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More drift channels: Kerr nonlinearity, TLS resonant coupling, measurement-SNR degradation.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Other cat flavours — moon cats, squeezed cats, biased cats (Rousseau et al.).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46"/>
                </a:solidFill>
              </a:rPr>
              <a:t>Maintain bias and lifetimes during single-qubit gates, not just the idle.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Qubit Online Stabilization · ETH × Alice &amp; Bob QEC Hackathon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731520"/>
            <a:ext cx="3200400" cy="3200400"/>
          </a:xfrm>
          <a:prstGeom prst="ellipse">
            <a:avLst/>
          </a:prstGeom>
          <a:solidFill>
            <a:srgbClr val="21D4F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194560" cy="2194560"/>
          </a:xfrm>
          <a:prstGeom prst="ellipse">
            <a:avLst/>
          </a:prstGeom>
          <a:solidFill>
            <a:srgbClr val="9D7BF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474720"/>
            <a:ext cx="1828800" cy="1828800"/>
          </a:xfrm>
          <a:prstGeom prst="ellipse">
            <a:avLst/>
          </a:prstGeom>
          <a:solidFill>
            <a:srgbClr val="0EA5C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463040" cy="0"/>
          </a:xfrm>
          <a:prstGeom prst="line">
            <a:avLst/>
          </a:prstGeom>
          <a:noFill/>
          <a:ln w="38100">
            <a:solidFill>
              <a:srgbClr val="21D4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7B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push the calibration loop next — toward a richer noise model, smarter optimizers, or richer cats?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ETH × Alice &amp; Bob QEC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Qubit Online Stabilization</dc:title>
  <dc:subject>PptxGenJS Presentation</dc:subject>
  <dc:creator>QEC Hackathon Team</dc:creator>
  <cp:lastModifiedBy>QEC Hackathon Team</cp:lastModifiedBy>
  <cp:revision>1</cp:revision>
  <dcterms:created xsi:type="dcterms:W3CDTF">2026-05-10T03:33:49Z</dcterms:created>
  <dcterms:modified xsi:type="dcterms:W3CDTF">2026-05-10T03:33:49Z</dcterms:modified>
</cp:coreProperties>
</file>